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arlow"/>
      <p:regular r:id="rId201314"/>
    </p:embeddedFont>
    <p:embeddedFont>
      <p:font typeface="Barlow Bold"/>
      <p:regular r:id="rId201315"/>
    </p:embeddedFont>
    <p:embeddedFont>
      <p:font typeface="Barlow Black"/>
      <p:regular r:id="rId201316"/>
    </p:embeddedFont>
    <p:embeddedFont>
      <p:font typeface="Spline Sans Bold"/>
      <p:regular r:id="rId201317"/>
    </p:embeddedFont>
    <p:embeddedFont>
      <p:font typeface="Spline Sans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04825"/>
            <a:ext cx="10723294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Smart Vision Sentry: CCTV False Alarm Elimination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29408" y="851595"/>
            <a:ext cx="11332879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D9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Design Thinking for AI-Powered Video Analytics (Task 01 C29)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4200" y="1036241"/>
            <a:ext cx="10723294" cy="12700"/>
          </a:xfrm>
          <a:prstGeom prst="roundRect">
            <a:avLst>
              <a:gd name="adj" fmla="val 49999"/>
            </a:avLst>
          </a:prstGeom>
          <a:solidFill>
            <a:srgbClr val="E0E4E6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8122" y="1123454"/>
            <a:ext cx="5381887" cy="370582"/>
          </a:xfrm>
          <a:prstGeom prst="roundRect">
            <a:avLst>
              <a:gd name="adj" fmla="val 49999"/>
            </a:avLst>
          </a:prstGeom>
          <a:solidFill>
            <a:srgbClr val="1E3A5F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59897" y="1169293"/>
            <a:ext cx="5198337" cy="127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D9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Student Name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59897" y="1342628"/>
            <a:ext cx="5807922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Prathap 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148035" y="1123454"/>
            <a:ext cx="5381887" cy="370582"/>
          </a:xfrm>
          <a:prstGeom prst="roundRect">
            <a:avLst>
              <a:gd name="adj" fmla="val 49999"/>
            </a:avLst>
          </a:prstGeom>
          <a:solidFill>
            <a:srgbClr val="1E3A5F">
              <a:alpha val="7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239810" y="1169293"/>
            <a:ext cx="5198337" cy="127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D9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Roll Number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239810" y="1342628"/>
            <a:ext cx="5807922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25102159 (RTC2025BAI360)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68122" y="1545630"/>
            <a:ext cx="5381887" cy="370582"/>
          </a:xfrm>
          <a:prstGeom prst="roundRect">
            <a:avLst>
              <a:gd name="adj" fmla="val 49999"/>
            </a:avLst>
          </a:prstGeom>
          <a:solidFill>
            <a:srgbClr val="1E3A5F">
              <a:alpha val="7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59897" y="1591469"/>
            <a:ext cx="5198337" cy="127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D9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Department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59897" y="1764804"/>
            <a:ext cx="5807922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BTech AI&amp;DS / C29 Batch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6148035" y="1545630"/>
            <a:ext cx="5381887" cy="370582"/>
          </a:xfrm>
          <a:prstGeom prst="roundRect">
            <a:avLst>
              <a:gd name="adj" fmla="val 49999"/>
            </a:avLst>
          </a:prstGeom>
          <a:solidFill>
            <a:srgbClr val="1E3A5F">
              <a:alpha val="7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239810" y="1591469"/>
            <a:ext cx="5198337" cy="127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D9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Institution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239810" y="1764804"/>
            <a:ext cx="5807922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Rathinam Technical Campus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734200" y="1984970"/>
            <a:ext cx="10723294" cy="127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D9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Site Location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34200" y="2181225"/>
            <a:ext cx="11332879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Residential Corridor Site</a:t>
            </a:r>
            <a:endParaRPr lang="en-US" sz="7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200" y="2342952"/>
            <a:ext cx="10723294" cy="4825603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2349461" y="2617485"/>
            <a:ext cx="1876576" cy="25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Empathise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349461" y="2957752"/>
            <a:ext cx="1876576" cy="34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Observe users and corridor conditions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4205416" y="6236688"/>
            <a:ext cx="1886888" cy="25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Define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205416" y="6576954"/>
            <a:ext cx="1886888" cy="34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Frame false-alarm problem scope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040749" y="2581396"/>
            <a:ext cx="1876577" cy="25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Analyse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040749" y="2921663"/>
            <a:ext cx="1876577" cy="34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Investigate data and edge cases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7896703" y="6236688"/>
            <a:ext cx="1876576" cy="25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Ideate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896703" y="6576954"/>
            <a:ext cx="1876576" cy="34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Generate AI model and sensor ideas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504825"/>
            <a:ext cx="934518" cy="139402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265" y="537766"/>
            <a:ext cx="73420" cy="734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9395" y="532309"/>
            <a:ext cx="1323843" cy="84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01: EMPATHISE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734200" y="662583"/>
            <a:ext cx="10723294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Field Observation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4200" y="986334"/>
            <a:ext cx="11332879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Direct on-site ethnographic observation of the residential corridor security installation revealed three compounding failure signals: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668122" y="1148060"/>
            <a:ext cx="5381887" cy="10414595"/>
          </a:xfrm>
          <a:prstGeom prst="roundRect">
            <a:avLst>
              <a:gd name="adj" fmla="val 4093"/>
            </a:avLst>
          </a:prstGeom>
          <a:solidFill>
            <a:srgbClr val="1E3A5F">
              <a:alpha val="7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5105" y="1189335"/>
            <a:ext cx="5807922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Physical Context</a:t>
            </a:r>
            <a:endParaRPr lang="en-US" sz="7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97" y="1351062"/>
            <a:ext cx="5198337" cy="288508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148035" y="1148060"/>
            <a:ext cx="5381887" cy="10414595"/>
          </a:xfrm>
          <a:prstGeom prst="roundRect">
            <a:avLst>
              <a:gd name="adj" fmla="val 4093"/>
            </a:avLst>
          </a:prstGeom>
          <a:solidFill>
            <a:srgbClr val="1E3A5F">
              <a:alpha val="75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5935018" y="1189335"/>
            <a:ext cx="5807922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Digital Evidence</a:t>
            </a:r>
            <a:endParaRPr lang="en-US" sz="7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9810" y="1351062"/>
            <a:ext cx="4571886" cy="1016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1115120"/>
            <a:ext cx="1639450" cy="279003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330" y="1181199"/>
            <a:ext cx="146840" cy="1468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4591" y="1170186"/>
            <a:ext cx="1808514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02: DEFINE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734200" y="1467545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009526" y="2459335"/>
            <a:ext cx="10447969" cy="1174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Residents at independent residential homes currently monitor corridor security using basic PIR and pixel-motion CCTV alerts, which causes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00D9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over 99+ false alarm notifications daily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complete notification muting because outdoor wind and moving foliage trigger pixel-change thresholds indiscriminately. Existing companion app sensitivity settings fall short because reducing sensitivity causes the system to fail in detecting actual human presence.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4200" y="2252861"/>
            <a:ext cx="25399" cy="1587698"/>
          </a:xfrm>
          <a:prstGeom prst="roundRect">
            <a:avLst>
              <a:gd name="adj" fmla="val 50001"/>
            </a:avLst>
          </a:prstGeom>
          <a:solidFill>
            <a:srgbClr val="16FFBB"/>
          </a:solidFill>
          <a:ln/>
        </p:spPr>
      </p:sp>
      <p:sp>
        <p:nvSpPr>
          <p:cNvPr id="8" name="Shape 5"/>
          <p:cNvSpPr/>
          <p:nvPr/>
        </p:nvSpPr>
        <p:spPr>
          <a:xfrm>
            <a:off x="602044" y="4047034"/>
            <a:ext cx="5402028" cy="1695748"/>
          </a:xfrm>
          <a:prstGeom prst="roundRect">
            <a:avLst>
              <a:gd name="adj" fmla="val 25981"/>
            </a:avLst>
          </a:prstGeom>
          <a:solidFill>
            <a:srgbClr val="1E3A5F">
              <a:alpha val="7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85594" y="4230588"/>
            <a:ext cx="5034928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Core Paradox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85594" y="4669135"/>
            <a:ext cx="5034928" cy="1009452"/>
          </a:xfrm>
          <a:prstGeom prst="rect">
            <a:avLst/>
          </a:prstGeom>
          <a:noFill/>
          <a:ln/>
        </p:spPr>
        <p:txBody>
          <a:bodyPr wrap="square" lIns="0" tIns="7343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Too sensitive: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99+ daily false alarms → muting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Less sensitive: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Real intruders go undetected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 middle ground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exists in pixel-threshold logic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326128" y="4230588"/>
            <a:ext cx="5137716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Why Pixel-Threshold Fails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326128" y="4669135"/>
            <a:ext cx="5137716" cy="1009452"/>
          </a:xfrm>
          <a:prstGeom prst="rect">
            <a:avLst/>
          </a:prstGeom>
          <a:noFill/>
          <a:ln/>
        </p:spPr>
        <p:txBody>
          <a:bodyPr wrap="square" lIns="0" tIns="7343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Cannot distinguish foliage from human silhouette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Wind, sunlight, and shadow all register as motion events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 temporal or semantic reasoning applied to frames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517426"/>
            <a:ext cx="1670008" cy="257076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699" y="578247"/>
            <a:ext cx="135331" cy="1353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8695" y="568127"/>
            <a:ext cx="1873600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TARGET OBJECTIVES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734200" y="836811"/>
            <a:ext cx="10723294" cy="4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Project Objectives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734200" y="1540768"/>
            <a:ext cx="10723294" cy="520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Four measurable engineering goals define success for Smart Vision Sentry, each directly countering a specific failure mode identified in field observation: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200" y="2236490"/>
            <a:ext cx="5283663" cy="19740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4484" y="2363391"/>
            <a:ext cx="20299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922414" y="2913360"/>
            <a:ext cx="4907237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False Positive Reduction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922414" y="3241873"/>
            <a:ext cx="4907237" cy="780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Reduce false positive alerts by </a:t>
            </a:r>
            <a:pPr algn="l"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00D9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&gt;90%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using lightweight object classification — replacing pixel-delta logic with semantic human detection.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3831" y="2236490"/>
            <a:ext cx="5283663" cy="19740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714115" y="2363391"/>
            <a:ext cx="20299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6362045" y="2913360"/>
            <a:ext cx="4907237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Zone-Based Loitering Detection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6362045" y="3241873"/>
            <a:ext cx="4907237" cy="780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Implement virtual tripwire and dwell tracking — alert only when a human remains within the corridor zone for </a:t>
            </a:r>
            <a:pPr algn="l"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00D9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&gt;20 seconds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eliminating transient false triggers.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4200" y="4366518"/>
            <a:ext cx="5283663" cy="19740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274484" y="4493419"/>
            <a:ext cx="20299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922414" y="5043388"/>
            <a:ext cx="4907237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Resident Face Whitelisting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922414" y="5371902"/>
            <a:ext cx="4907237" cy="780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Enable whitelisted face verification for resident recognition — known residents are silently logged; only unknown faces trigger a security alert.</a:t>
            </a:r>
            <a:endParaRPr lang="en-US" sz="13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73831" y="4366518"/>
            <a:ext cx="5283663" cy="197405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714115" y="4493419"/>
            <a:ext cx="20299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</a:t>
            </a:r>
            <a:endParaRPr lang="en-US" sz="1550" dirty="0"/>
          </a:p>
        </p:txBody>
      </p:sp>
      <p:sp>
        <p:nvSpPr>
          <p:cNvPr id="21" name="Text 14"/>
          <p:cNvSpPr/>
          <p:nvPr/>
        </p:nvSpPr>
        <p:spPr>
          <a:xfrm>
            <a:off x="6362045" y="5043388"/>
            <a:ext cx="4907237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Low-Latency Alert Delivery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6362045" y="5371902"/>
            <a:ext cx="4907237" cy="780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Deliver Telegram/Web alerts within </a:t>
            </a:r>
            <a:pPr algn="l"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00D9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&lt;2 seconds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of a verified threat event — maintaining real-time awareness without notification flooding.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551954"/>
            <a:ext cx="1653042" cy="261541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385" y="613866"/>
            <a:ext cx="137613" cy="137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3755" y="603548"/>
            <a:ext cx="1849887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03: ANALYSE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734200" y="877987"/>
            <a:ext cx="10723294" cy="47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Problem Analysis — 6M Framework &amp; Key Metrics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10279" y="1598017"/>
            <a:ext cx="4285151" cy="4708029"/>
          </a:xfrm>
          <a:prstGeom prst="roundRect">
            <a:avLst>
              <a:gd name="adj" fmla="val 9639"/>
            </a:avLst>
          </a:prstGeom>
          <a:solidFill>
            <a:srgbClr val="1E3A5F">
              <a:alpha val="7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82320" y="1759347"/>
            <a:ext cx="3941069" cy="238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Key Impact Metrics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82320" y="2265759"/>
            <a:ext cx="3941069" cy="567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99+</a:t>
            </a:r>
            <a:endParaRPr lang="en-US" sz="4450" dirty="0"/>
          </a:p>
        </p:txBody>
      </p:sp>
      <p:sp>
        <p:nvSpPr>
          <p:cNvPr id="9" name="Text 6"/>
          <p:cNvSpPr/>
          <p:nvPr/>
        </p:nvSpPr>
        <p:spPr>
          <a:xfrm>
            <a:off x="782320" y="3040658"/>
            <a:ext cx="3941069" cy="238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False Alarms/Day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2320" y="3688259"/>
            <a:ext cx="3941069" cy="567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20m</a:t>
            </a:r>
            <a:endParaRPr lang="en-US" sz="4450" dirty="0"/>
          </a:p>
        </p:txBody>
      </p:sp>
      <p:sp>
        <p:nvSpPr>
          <p:cNvPr id="11" name="Text 8"/>
          <p:cNvSpPr/>
          <p:nvPr/>
        </p:nvSpPr>
        <p:spPr>
          <a:xfrm>
            <a:off x="782320" y="4463157"/>
            <a:ext cx="3941069" cy="238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Wasted Daily (Log Checks)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82320" y="5110758"/>
            <a:ext cx="3941069" cy="567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</a:t>
            </a:r>
            <a:endParaRPr lang="en-US" sz="4450" dirty="0"/>
          </a:p>
        </p:txBody>
      </p:sp>
      <p:sp>
        <p:nvSpPr>
          <p:cNvPr id="13" name="Text 10"/>
          <p:cNvSpPr/>
          <p:nvPr/>
        </p:nvSpPr>
        <p:spPr>
          <a:xfrm>
            <a:off x="782320" y="5885656"/>
            <a:ext cx="3941069" cy="238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Family Members Impacted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197742" y="1759347"/>
            <a:ext cx="6266003" cy="238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6M Root Cause Breakdown</a:t>
            </a:r>
            <a:endParaRPr lang="en-US" sz="15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62232" y="2185095"/>
            <a:ext cx="258062" cy="2580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56925" y="2179737"/>
            <a:ext cx="2472965" cy="238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Machine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756925" y="2579985"/>
            <a:ext cx="2472965" cy="1067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Pixel-difference thresholding without ML frame analysis — the detector has no concept of object semantics.</a:t>
            </a:r>
            <a:endParaRPr lang="en-US" sz="13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95988" y="2185095"/>
            <a:ext cx="258062" cy="2580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90681" y="2179737"/>
            <a:ext cx="2473065" cy="238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Milieu (Environment)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990681" y="2579985"/>
            <a:ext cx="2473065" cy="1333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Sunlight shifts and swaying leaves continuously trigger pixel deltas — the physical site amplifies the algorithmic weakness.</a:t>
            </a:r>
            <a:endParaRPr lang="en-US" sz="13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62232" y="4241998"/>
            <a:ext cx="258062" cy="2580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56925" y="4236641"/>
            <a:ext cx="5706821" cy="238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Method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756925" y="4636889"/>
            <a:ext cx="5706821" cy="533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Raw un-debounced push notifications — every individual frame-delta fires an alert with no temporal aggregation or deduplication.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524768"/>
            <a:ext cx="1624170" cy="279003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330" y="590848"/>
            <a:ext cx="146840" cy="1468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4591" y="579834"/>
            <a:ext cx="1793235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04: IDEATE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734200" y="877193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Existing Solutions vs. Innovation Opening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34200" y="1662509"/>
            <a:ext cx="10723294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Two incumbent approaches were evaluated in the field. Both represent dead-ends — creating the innovation gap that Smart Vision Sentry fills.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4200" y="2456359"/>
            <a:ext cx="10723294" cy="2642592"/>
          </a:xfrm>
          <a:prstGeom prst="roundRect">
            <a:avLst>
              <a:gd name="adj" fmla="val 10420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53250" y="2475409"/>
            <a:ext cx="5342598" cy="2604492"/>
          </a:xfrm>
          <a:custGeom>
            <a:avLst/>
            <a:gdLst/>
            <a:ahLst/>
            <a:cxnLst/>
            <a:rect l="l" t="t" r="r" b="b"/>
            <a:pathLst>
              <a:path w="5342598" h="2604492">
                <a:moveTo>
                  <a:pt x="229469" y="0"/>
                </a:moveTo>
                <a:lnTo>
                  <a:pt x="5342598" y="0"/>
                </a:lnTo>
                <a:lnTo>
                  <a:pt x="5342598" y="2604492"/>
                </a:lnTo>
                <a:lnTo>
                  <a:pt x="229469" y="2604492"/>
                </a:lnTo>
                <a:arcTo hR="229474" wR="229469" stAng="5400000" swAng="5400000"/>
                <a:lnTo>
                  <a:pt x="0" y="229474"/>
                </a:lnTo>
                <a:arcTo hR="229474" wR="229469" stAng="10800000" swAng="5400000"/>
                <a:close/>
              </a:path>
            </a:pathLst>
          </a:custGeom>
          <a:solidFill>
            <a:srgbClr val="0A081B"/>
          </a:solidFill>
          <a:ln/>
        </p:spPr>
      </p:sp>
      <p:sp>
        <p:nvSpPr>
          <p:cNvPr id="9" name="Text 6"/>
          <p:cNvSpPr/>
          <p:nvPr/>
        </p:nvSpPr>
        <p:spPr>
          <a:xfrm>
            <a:off x="936800" y="2658963"/>
            <a:ext cx="4975497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Solution 1 — App Sensitivity Sliders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36800" y="3024088"/>
            <a:ext cx="4975497" cy="1578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How it works: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Vendor app allows lowering motion detection threshold via a slider control.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Why it fails: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Reducing sensitivity below operational threshold means real human intruders are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silently missed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a direct security regression with no middle ground achievable.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095848" y="2475409"/>
            <a:ext cx="5342598" cy="2604492"/>
          </a:xfrm>
          <a:custGeom>
            <a:avLst/>
            <a:gdLst/>
            <a:ahLst/>
            <a:cxnLst/>
            <a:rect l="l" t="t" r="r" b="b"/>
            <a:pathLst>
              <a:path w="5342598" h="2604492">
                <a:moveTo>
                  <a:pt x="0" y="0"/>
                </a:moveTo>
                <a:lnTo>
                  <a:pt x="5113129" y="0"/>
                </a:lnTo>
                <a:arcTo hR="229474" wR="229469" stAng="16200000" swAng="5400000"/>
                <a:lnTo>
                  <a:pt x="5342598" y="2375018"/>
                </a:lnTo>
                <a:arcTo hR="229474" wR="229469" stAng="0" swAng="5400000"/>
                <a:lnTo>
                  <a:pt x="0" y="2604492"/>
                </a:lnTo>
                <a:lnTo>
                  <a:pt x="0" y="0"/>
                </a:lnTo>
                <a:close/>
              </a:path>
            </a:pathLst>
          </a:custGeom>
          <a:solidFill>
            <a:srgbClr val="0A081B"/>
          </a:solidFill>
          <a:ln/>
        </p:spPr>
      </p:sp>
      <p:sp>
        <p:nvSpPr>
          <p:cNvPr id="12" name="Shape 9"/>
          <p:cNvSpPr/>
          <p:nvPr/>
        </p:nvSpPr>
        <p:spPr>
          <a:xfrm>
            <a:off x="6095848" y="2475409"/>
            <a:ext cx="25399" cy="2604492"/>
          </a:xfrm>
          <a:prstGeom prst="roundRect">
            <a:avLst>
              <a:gd name="adj" fmla="val 50001"/>
            </a:avLst>
          </a:prstGeom>
          <a:solidFill>
            <a:srgbClr val="0FC3C0"/>
          </a:solidFill>
          <a:ln/>
        </p:spPr>
      </p:sp>
      <p:sp>
        <p:nvSpPr>
          <p:cNvPr id="13" name="Text 10"/>
          <p:cNvSpPr/>
          <p:nvPr/>
        </p:nvSpPr>
        <p:spPr>
          <a:xfrm>
            <a:off x="6279398" y="2658963"/>
            <a:ext cx="4975497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Solution 2 — Muting Notifications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279398" y="3024088"/>
            <a:ext cx="4975497" cy="1872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How it works: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Resident silences app push notifications to escape alert fatigue.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Why it fails: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Eliminates all real-time security coverage entirely. The system continues recording, but nobody receives any alerts — rendering the CCTV investment useless as a live deterrent.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34200" y="5305425"/>
            <a:ext cx="10723294" cy="1027807"/>
          </a:xfrm>
          <a:prstGeom prst="roundRect">
            <a:avLst>
              <a:gd name="adj" fmla="val 26791"/>
            </a:avLst>
          </a:prstGeom>
          <a:solidFill>
            <a:srgbClr val="00805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750" y="5571034"/>
            <a:ext cx="229388" cy="18355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330689" y="5534819"/>
            <a:ext cx="9943256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Innovation Opening: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Local Edge AI pipeline combining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00D9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YOLOv8 + ByteTrack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for real-time human filtering &amp; loitering detection — understanding </a:t>
            </a:r>
            <a:pPr algn="l" indent="0" marL="0">
              <a:lnSpc>
                <a:spcPct val="133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moved, not just </a:t>
            </a:r>
            <a:pPr algn="l" indent="0" marL="0">
              <a:lnSpc>
                <a:spcPct val="133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that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pixels changed.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562074"/>
            <a:ext cx="2900588" cy="265906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171" y="625078"/>
            <a:ext cx="139895" cy="1398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9014" y="614561"/>
            <a:ext cx="3090388" cy="160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05: PROTOTYPE — SHORTLISTING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4200" y="894655"/>
            <a:ext cx="10723294" cy="485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Proposed AI Solution &amp; Shortlisting</a:t>
            </a:r>
            <a:endParaRPr lang="en-US" sz="3050" dirty="0"/>
          </a:p>
        </p:txBody>
      </p:sp>
      <p:sp>
        <p:nvSpPr>
          <p:cNvPr id="6" name="Shape 3"/>
          <p:cNvSpPr/>
          <p:nvPr/>
        </p:nvSpPr>
        <p:spPr>
          <a:xfrm>
            <a:off x="608196" y="1630759"/>
            <a:ext cx="5957738" cy="4665067"/>
          </a:xfrm>
          <a:prstGeom prst="roundRect">
            <a:avLst>
              <a:gd name="adj" fmla="val 9002"/>
            </a:avLst>
          </a:prstGeom>
          <a:solidFill>
            <a:srgbClr val="1E3A5F">
              <a:alpha val="7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783114" y="1818283"/>
            <a:ext cx="1590933" cy="272256"/>
          </a:xfrm>
          <a:prstGeom prst="roundRect">
            <a:avLst>
              <a:gd name="adj" fmla="val 49999"/>
            </a:avLst>
          </a:prstGeom>
          <a:noFill/>
          <a:ln w="12700">
            <a:solidFill>
              <a:srgbClr val="16FFB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8085" y="1870770"/>
            <a:ext cx="1990576" cy="167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🏆</a:t>
            </a:r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WINNER SOLUTION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83114" y="2157214"/>
            <a:ext cx="560790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Smart Vision Sentry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3114" y="2566789"/>
            <a:ext cx="6217487" cy="273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0D9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YOLOv8-Nano + ByteTrack + InsightFace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83114" y="2990255"/>
            <a:ext cx="5607902" cy="1932384"/>
          </a:xfrm>
          <a:prstGeom prst="rect">
            <a:avLst/>
          </a:prstGeom>
          <a:noFill/>
          <a:ln/>
        </p:spPr>
        <p:txBody>
          <a:bodyPr wrap="square" lIns="0" tIns="69988" rIns="0" bIns="0" rtlCol="0" anchor="t">
            <a:normAutofit/>
          </a:bodyPr>
          <a:lstStyle/>
          <a:p>
            <a:pPr algn="l" marL="274320" indent="-27432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Real-time human filtering (semantic object detection)</a:t>
            </a:r>
            <a:endParaRPr lang="en-US" sz="1350" dirty="0"/>
          </a:p>
          <a:p>
            <a:pPr algn="l" marL="274320" indent="-27432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Virtual line-crossing tripwire enforcement</a:t>
            </a:r>
            <a:endParaRPr lang="en-US" sz="1350" dirty="0"/>
          </a:p>
          <a:p>
            <a:pPr algn="l" marL="274320" indent="-27432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Dwell-time alerts triggered at </a:t>
            </a:r>
            <a:pPr algn="l" marL="274320" indent="-274320">
              <a:lnSpc>
                <a:spcPct val="130000"/>
              </a:lnSpc>
              <a:buSzPct val="100000"/>
              <a:buChar char="•"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&gt;20 seconds</a:t>
            </a:r>
            <a:pPr algn="l" marL="274320" indent="-27432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loitering</a:t>
            </a:r>
            <a:endParaRPr lang="en-US" sz="1350" dirty="0"/>
          </a:p>
          <a:p>
            <a:pPr algn="l" marL="274320" indent="-27432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Resident face matching via InsightFace biometrics</a:t>
            </a:r>
            <a:endParaRPr lang="en-US" sz="1350" dirty="0"/>
          </a:p>
          <a:p>
            <a:pPr algn="l" marL="274320" indent="-27432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Fully local edge inference — </a:t>
            </a:r>
            <a:pPr algn="l" marL="274320" indent="-274320">
              <a:lnSpc>
                <a:spcPct val="130000"/>
              </a:lnSpc>
              <a:buSzPct val="100000"/>
              <a:buChar char="•"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zero cloud costs</a:t>
            </a:r>
            <a:endParaRPr lang="en-US" sz="1350" dirty="0"/>
          </a:p>
          <a:p>
            <a:pPr algn="l" marL="274320" indent="-27432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Alert latency: </a:t>
            </a:r>
            <a:pPr algn="l" marL="274320" indent="-274320">
              <a:lnSpc>
                <a:spcPct val="130000"/>
              </a:lnSpc>
              <a:buSzPct val="100000"/>
              <a:buChar char="•"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&lt;2 seconds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873108" y="1818283"/>
            <a:ext cx="969938" cy="265906"/>
          </a:xfrm>
          <a:prstGeom prst="roundRect">
            <a:avLst>
              <a:gd name="adj" fmla="val 49999"/>
            </a:avLst>
          </a:prstGeom>
          <a:noFill/>
          <a:ln w="12700">
            <a:solidFill>
              <a:srgbClr val="16FF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78079" y="1870770"/>
            <a:ext cx="1369581" cy="160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RUNNER-UP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73108" y="2150864"/>
            <a:ext cx="459063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Cloud LMM Vision Stream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73108" y="2560439"/>
            <a:ext cx="5200222" cy="273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GPT-4o Vision API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873108" y="2983905"/>
            <a:ext cx="4590637" cy="605234"/>
          </a:xfrm>
          <a:prstGeom prst="rect">
            <a:avLst/>
          </a:prstGeom>
          <a:noFill/>
          <a:ln/>
        </p:spPr>
        <p:txBody>
          <a:bodyPr wrap="square" lIns="0" tIns="69988" rIns="0" bIns="0" rtlCol="0" anchor="t">
            <a:normAutofit/>
          </a:bodyPr>
          <a:lstStyle/>
          <a:p>
            <a:pPr algn="l" marL="274320" indent="-27432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High visual reasoning capability</a:t>
            </a:r>
            <a:endParaRPr lang="en-US" sz="1350" dirty="0"/>
          </a:p>
          <a:p>
            <a:pPr algn="l" marL="274320" indent="-27432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Requires no local GPU hardware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873108" y="3820319"/>
            <a:ext cx="4590637" cy="19050"/>
          </a:xfrm>
          <a:prstGeom prst="roundRect">
            <a:avLst>
              <a:gd name="adj" fmla="val 49999"/>
            </a:avLst>
          </a:prstGeom>
          <a:solidFill>
            <a:srgbClr val="E0E4E6">
              <a:alpha val="5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6873108" y="4070548"/>
            <a:ext cx="459063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Why Runner-Up Lost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873108" y="4480123"/>
            <a:ext cx="4590637" cy="1757362"/>
          </a:xfrm>
          <a:prstGeom prst="rect">
            <a:avLst/>
          </a:prstGeom>
          <a:noFill/>
          <a:ln/>
        </p:spPr>
        <p:txBody>
          <a:bodyPr wrap="square" lIns="0" tIns="69988" rIns="0" bIns="0" rtlCol="0" anchor="t">
            <a:normAutofit/>
          </a:bodyPr>
          <a:lstStyle/>
          <a:p>
            <a:pPr algn="l" marL="274320" indent="-274320">
              <a:lnSpc>
                <a:spcPct val="130000"/>
              </a:lnSpc>
              <a:buSzPct val="100000"/>
              <a:buChar char="•"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Cost:</a:t>
            </a:r>
            <a:pPr algn="l" marL="274320" indent="-27432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$150+/month API fees — unsustainable for residential deployment</a:t>
            </a:r>
            <a:endParaRPr lang="en-US" sz="1350" dirty="0"/>
          </a:p>
          <a:p>
            <a:pPr algn="l" marL="274320" indent="-274320">
              <a:lnSpc>
                <a:spcPct val="130000"/>
              </a:lnSpc>
              <a:buSzPct val="100000"/>
              <a:buChar char="•"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Latency:</a:t>
            </a:r>
            <a:pPr algn="l" marL="274320" indent="-27432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3–5 second network round-trip vs. local edge inference speed</a:t>
            </a:r>
            <a:endParaRPr lang="en-US" sz="1350" dirty="0"/>
          </a:p>
          <a:p>
            <a:pPr algn="l" marL="274320" indent="-274320">
              <a:lnSpc>
                <a:spcPct val="130000"/>
              </a:lnSpc>
              <a:buSzPct val="100000"/>
              <a:buChar char="•"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Privacy:</a:t>
            </a:r>
            <a:pPr algn="l" marL="274320" indent="-27432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Video frames transmitted to external cloud servers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504825"/>
            <a:ext cx="1549659" cy="139402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265" y="537766"/>
            <a:ext cx="73420" cy="734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9395" y="532309"/>
            <a:ext cx="1938984" cy="84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05: PROTOTYPE — ARCHITECTURE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734200" y="662583"/>
            <a:ext cx="10723294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System Architecture — Data Flow &amp; AI Pipeline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944" y="986334"/>
            <a:ext cx="10379808" cy="38950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92691" y="3952565"/>
            <a:ext cx="1565566" cy="26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User Interface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7319648" y="3952565"/>
            <a:ext cx="1565566" cy="26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Decision Logic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5357329" y="3952565"/>
            <a:ext cx="1565566" cy="26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AI Engine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3395010" y="3952565"/>
            <a:ext cx="1565566" cy="26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Acquisition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389799" y="3952565"/>
            <a:ext cx="1565566" cy="26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 Source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429408" y="4932958"/>
            <a:ext cx="11332879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FEEDBACK LOOP:</a:t>
            </a:r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Resident flags false alert on Web UI → Updates model confidence thresholds</a:t>
            </a:r>
            <a:endParaRPr lang="en-US" sz="700" dirty="0"/>
          </a:p>
        </p:txBody>
      </p:sp>
      <p:sp>
        <p:nvSpPr>
          <p:cNvPr id="13" name="Shape 9"/>
          <p:cNvSpPr/>
          <p:nvPr/>
        </p:nvSpPr>
        <p:spPr>
          <a:xfrm>
            <a:off x="734200" y="5094684"/>
            <a:ext cx="10723294" cy="1689100"/>
          </a:xfrm>
          <a:prstGeom prst="roundRect">
            <a:avLst>
              <a:gd name="adj" fmla="val 8151"/>
            </a:avLst>
          </a:prstGeom>
          <a:solidFill>
            <a:srgbClr val="0A081B"/>
          </a:solidFill>
          <a:ln w="6350">
            <a:solidFill>
              <a:srgbClr val="16FFB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40550" y="5101034"/>
            <a:ext cx="5355297" cy="558800"/>
          </a:xfrm>
          <a:custGeom>
            <a:avLst/>
            <a:gdLst/>
            <a:ahLst/>
            <a:cxnLst/>
            <a:rect l="l" t="t" r="r" b="b"/>
            <a:pathLst>
              <a:path w="5355297" h="558800">
                <a:moveTo>
                  <a:pt x="114734" y="0"/>
                </a:moveTo>
                <a:lnTo>
                  <a:pt x="5355297" y="0"/>
                </a:lnTo>
                <a:lnTo>
                  <a:pt x="5355297" y="558800"/>
                </a:lnTo>
                <a:lnTo>
                  <a:pt x="0" y="558800"/>
                </a:lnTo>
                <a:lnTo>
                  <a:pt x="0" y="114737"/>
                </a:lnTo>
                <a:arcTo hR="114737" wR="114734" stAng="10800000" swAng="5400000"/>
                <a:close/>
              </a:path>
            </a:pathLst>
          </a:custGeom>
          <a:solidFill>
            <a:srgbClr val="0A081B"/>
          </a:solidFill>
          <a:ln/>
        </p:spPr>
      </p:sp>
      <p:sp>
        <p:nvSpPr>
          <p:cNvPr id="15" name="Text 11"/>
          <p:cNvSpPr/>
          <p:nvPr/>
        </p:nvSpPr>
        <p:spPr>
          <a:xfrm>
            <a:off x="832325" y="5192812"/>
            <a:ext cx="5171747" cy="127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Step 1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832325" y="5347791"/>
            <a:ext cx="5171747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Source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CCTV Camera RTSP Stream | 1080p @ 10fps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6095848" y="5101034"/>
            <a:ext cx="5355297" cy="558800"/>
          </a:xfrm>
          <a:custGeom>
            <a:avLst/>
            <a:gdLst/>
            <a:ahLst/>
            <a:cxnLst/>
            <a:rect l="l" t="t" r="r" b="b"/>
            <a:pathLst>
              <a:path w="5355297" h="558800">
                <a:moveTo>
                  <a:pt x="0" y="0"/>
                </a:moveTo>
                <a:lnTo>
                  <a:pt x="5240563" y="0"/>
                </a:lnTo>
                <a:arcTo hR="114737" wR="114734" stAng="16200000" swAng="5400000"/>
                <a:lnTo>
                  <a:pt x="5355297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0A081B"/>
          </a:solidFill>
          <a:ln/>
        </p:spPr>
      </p:sp>
      <p:sp>
        <p:nvSpPr>
          <p:cNvPr id="18" name="Shape 14"/>
          <p:cNvSpPr/>
          <p:nvPr/>
        </p:nvSpPr>
        <p:spPr>
          <a:xfrm>
            <a:off x="6095848" y="5101034"/>
            <a:ext cx="12700" cy="558800"/>
          </a:xfrm>
          <a:prstGeom prst="roundRect">
            <a:avLst>
              <a:gd name="adj" fmla="val 49999"/>
            </a:avLst>
          </a:prstGeom>
          <a:solidFill>
            <a:srgbClr val="0FC3C0"/>
          </a:solidFill>
          <a:ln/>
        </p:spPr>
      </p:sp>
      <p:sp>
        <p:nvSpPr>
          <p:cNvPr id="19" name="Text 15"/>
          <p:cNvSpPr/>
          <p:nvPr/>
        </p:nvSpPr>
        <p:spPr>
          <a:xfrm>
            <a:off x="6187623" y="5192812"/>
            <a:ext cx="5171747" cy="127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Step 2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6187623" y="5347791"/>
            <a:ext cx="5171747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Acquisition &amp; Pre-processing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OpenCV Frame Buffer &amp; ROI Crop</a:t>
            </a:r>
            <a:endParaRPr lang="en-US" sz="700" dirty="0"/>
          </a:p>
        </p:txBody>
      </p:sp>
      <p:sp>
        <p:nvSpPr>
          <p:cNvPr id="21" name="Shape 17"/>
          <p:cNvSpPr/>
          <p:nvPr/>
        </p:nvSpPr>
        <p:spPr>
          <a:xfrm>
            <a:off x="740550" y="5659834"/>
            <a:ext cx="5355297" cy="558800"/>
          </a:xfrm>
          <a:prstGeom prst="rect">
            <a:avLst/>
          </a:prstGeom>
          <a:solidFill>
            <a:srgbClr val="0A081B"/>
          </a:solidFill>
          <a:ln/>
        </p:spPr>
      </p:sp>
      <p:sp>
        <p:nvSpPr>
          <p:cNvPr id="22" name="Shape 18"/>
          <p:cNvSpPr/>
          <p:nvPr/>
        </p:nvSpPr>
        <p:spPr>
          <a:xfrm>
            <a:off x="740550" y="5659834"/>
            <a:ext cx="5355297" cy="12700"/>
          </a:xfrm>
          <a:prstGeom prst="roundRect">
            <a:avLst>
              <a:gd name="adj" fmla="val 49999"/>
            </a:avLst>
          </a:prstGeom>
          <a:solidFill>
            <a:srgbClr val="1D8DCD"/>
          </a:solidFill>
          <a:ln/>
        </p:spPr>
      </p:sp>
      <p:sp>
        <p:nvSpPr>
          <p:cNvPr id="23" name="Text 19"/>
          <p:cNvSpPr/>
          <p:nvPr/>
        </p:nvSpPr>
        <p:spPr>
          <a:xfrm>
            <a:off x="832325" y="5751612"/>
            <a:ext cx="5171747" cy="127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Step 3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832325" y="5906591"/>
            <a:ext cx="5171747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 Engine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YOLOv8-Nano + ByteTrack + InsightFace</a:t>
            </a:r>
            <a:endParaRPr lang="en-US" sz="700" dirty="0"/>
          </a:p>
        </p:txBody>
      </p:sp>
      <p:sp>
        <p:nvSpPr>
          <p:cNvPr id="25" name="Shape 21"/>
          <p:cNvSpPr/>
          <p:nvPr/>
        </p:nvSpPr>
        <p:spPr>
          <a:xfrm>
            <a:off x="6095848" y="5659834"/>
            <a:ext cx="5355297" cy="558800"/>
          </a:xfrm>
          <a:prstGeom prst="rect">
            <a:avLst/>
          </a:prstGeom>
          <a:solidFill>
            <a:srgbClr val="0A081B"/>
          </a:solidFill>
          <a:ln/>
        </p:spPr>
      </p:sp>
      <p:sp>
        <p:nvSpPr>
          <p:cNvPr id="26" name="Shape 22"/>
          <p:cNvSpPr/>
          <p:nvPr/>
        </p:nvSpPr>
        <p:spPr>
          <a:xfrm>
            <a:off x="6095848" y="5659834"/>
            <a:ext cx="12700" cy="558800"/>
          </a:xfrm>
          <a:prstGeom prst="roundRect">
            <a:avLst>
              <a:gd name="adj" fmla="val 49999"/>
            </a:avLst>
          </a:prstGeom>
          <a:solidFill>
            <a:srgbClr val="222B4A"/>
          </a:solidFill>
          <a:ln/>
        </p:spPr>
      </p:sp>
      <p:sp>
        <p:nvSpPr>
          <p:cNvPr id="27" name="Shape 23"/>
          <p:cNvSpPr/>
          <p:nvPr/>
        </p:nvSpPr>
        <p:spPr>
          <a:xfrm>
            <a:off x="6095848" y="5659834"/>
            <a:ext cx="5355297" cy="12700"/>
          </a:xfrm>
          <a:prstGeom prst="roundRect">
            <a:avLst>
              <a:gd name="adj" fmla="val 49999"/>
            </a:avLst>
          </a:prstGeom>
          <a:solidFill>
            <a:srgbClr val="222B4A"/>
          </a:solidFill>
          <a:ln/>
        </p:spPr>
      </p:sp>
      <p:sp>
        <p:nvSpPr>
          <p:cNvPr id="28" name="Text 24"/>
          <p:cNvSpPr/>
          <p:nvPr/>
        </p:nvSpPr>
        <p:spPr>
          <a:xfrm>
            <a:off x="6187623" y="5751612"/>
            <a:ext cx="5171747" cy="127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Step 4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6187623" y="5906591"/>
            <a:ext cx="5171747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Decision Logic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Human Detected AND Dwell &gt; 20s AND Unknown Face</a:t>
            </a:r>
            <a:endParaRPr lang="en-US" sz="700" dirty="0"/>
          </a:p>
        </p:txBody>
      </p:sp>
      <p:sp>
        <p:nvSpPr>
          <p:cNvPr id="30" name="Shape 26"/>
          <p:cNvSpPr/>
          <p:nvPr/>
        </p:nvSpPr>
        <p:spPr>
          <a:xfrm>
            <a:off x="740550" y="6218634"/>
            <a:ext cx="10710595" cy="558800"/>
          </a:xfrm>
          <a:custGeom>
            <a:avLst/>
            <a:gdLst/>
            <a:ahLst/>
            <a:cxnLst/>
            <a:rect l="l" t="t" r="r" b="b"/>
            <a:pathLst>
              <a:path w="10710595" h="558800">
                <a:moveTo>
                  <a:pt x="0" y="0"/>
                </a:moveTo>
                <a:lnTo>
                  <a:pt x="10710595" y="0"/>
                </a:lnTo>
                <a:lnTo>
                  <a:pt x="10710595" y="444063"/>
                </a:lnTo>
                <a:arcTo hR="114737" wR="114734" stAng="0" swAng="5400000"/>
                <a:lnTo>
                  <a:pt x="114734" y="558800"/>
                </a:lnTo>
                <a:arcTo hR="114737" wR="114734" stAng="5400000" swAng="5400000"/>
                <a:lnTo>
                  <a:pt x="0" y="0"/>
                </a:lnTo>
                <a:close/>
              </a:path>
            </a:pathLst>
          </a:custGeom>
          <a:solidFill>
            <a:srgbClr val="0A081B"/>
          </a:solidFill>
          <a:ln/>
        </p:spPr>
      </p:sp>
      <p:sp>
        <p:nvSpPr>
          <p:cNvPr id="31" name="Shape 27"/>
          <p:cNvSpPr/>
          <p:nvPr/>
        </p:nvSpPr>
        <p:spPr>
          <a:xfrm>
            <a:off x="740550" y="6218634"/>
            <a:ext cx="10710595" cy="12700"/>
          </a:xfrm>
          <a:prstGeom prst="roundRect">
            <a:avLst>
              <a:gd name="adj" fmla="val 49999"/>
            </a:avLst>
          </a:prstGeom>
          <a:solidFill>
            <a:srgbClr val="00E5A1"/>
          </a:solidFill>
          <a:ln/>
        </p:spPr>
      </p:sp>
      <p:sp>
        <p:nvSpPr>
          <p:cNvPr id="32" name="Text 28"/>
          <p:cNvSpPr/>
          <p:nvPr/>
        </p:nvSpPr>
        <p:spPr>
          <a:xfrm>
            <a:off x="832325" y="6310412"/>
            <a:ext cx="10527044" cy="127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Step 5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832325" y="6465391"/>
            <a:ext cx="10527044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User Interface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Web Dashboard &amp; Telegram Bot API | &lt;2s Alert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544215"/>
            <a:ext cx="2664056" cy="257076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699" y="605036"/>
            <a:ext cx="135331" cy="1353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8695" y="594916"/>
            <a:ext cx="2867648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EXPECTED IMPACT &amp; RISK MITIGATION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734200" y="863600"/>
            <a:ext cx="10723294" cy="4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Expected Impact &amp; Risk Mitigation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612363" y="1567557"/>
            <a:ext cx="5398952" cy="4746129"/>
          </a:xfrm>
          <a:prstGeom prst="roundRect">
            <a:avLst>
              <a:gd name="adj" fmla="val 8558"/>
            </a:avLst>
          </a:prstGeom>
          <a:solidFill>
            <a:srgbClr val="1E3A5F">
              <a:alpha val="7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81527" y="1723529"/>
            <a:ext cx="5060625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Before vs. After — Impact Metrics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302314" y="2133898"/>
            <a:ext cx="19050" cy="3122216"/>
          </a:xfrm>
          <a:prstGeom prst="roundRect">
            <a:avLst>
              <a:gd name="adj" fmla="val 49999"/>
            </a:avLst>
          </a:prstGeom>
          <a:solidFill>
            <a:srgbClr val="16FFBB"/>
          </a:solidFill>
          <a:ln/>
        </p:spPr>
      </p:sp>
      <p:sp>
        <p:nvSpPr>
          <p:cNvPr id="9" name="Shape 6"/>
          <p:cNvSpPr/>
          <p:nvPr/>
        </p:nvSpPr>
        <p:spPr>
          <a:xfrm>
            <a:off x="762477" y="2133898"/>
            <a:ext cx="2530312" cy="1287661"/>
          </a:xfrm>
          <a:custGeom>
            <a:avLst/>
            <a:gdLst/>
            <a:ahLst/>
            <a:cxnLst/>
            <a:rect l="l" t="t" r="r" b="b"/>
            <a:pathLst>
              <a:path w="2530312" h="1287661">
                <a:moveTo>
                  <a:pt x="211541" y="0"/>
                </a:moveTo>
                <a:lnTo>
                  <a:pt x="2530312" y="0"/>
                </a:lnTo>
                <a:lnTo>
                  <a:pt x="2530312" y="1287661"/>
                </a:lnTo>
                <a:lnTo>
                  <a:pt x="211541" y="1287661"/>
                </a:lnTo>
                <a:arcTo hR="211546" wR="211541" stAng="5400000" swAng="5400000"/>
                <a:lnTo>
                  <a:pt x="0" y="211546"/>
                </a:lnTo>
                <a:arcTo hR="211546" wR="211541" stAng="10800000" swAng="5400000"/>
                <a:close/>
              </a:path>
            </a:pathLst>
          </a:custGeom>
          <a:solidFill>
            <a:srgbClr val="1E3A5F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0690" y="2322116"/>
            <a:ext cx="2172935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Daily False Alerts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50690" y="2713037"/>
            <a:ext cx="2172935" cy="520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300" strike="sngStrike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99+ pings/day</a:t>
            </a:r>
            <a:pPr algn="r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→ </a:t>
            </a:r>
            <a:pPr algn="r"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00D9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&lt;4 verified pings/day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330889" y="3733502"/>
            <a:ext cx="2530312" cy="1522611"/>
          </a:xfrm>
          <a:custGeom>
            <a:avLst/>
            <a:gdLst/>
            <a:ahLst/>
            <a:cxnLst/>
            <a:rect l="l" t="t" r="r" b="b"/>
            <a:pathLst>
              <a:path w="2530312" h="1522611">
                <a:moveTo>
                  <a:pt x="0" y="0"/>
                </a:moveTo>
                <a:lnTo>
                  <a:pt x="2318771" y="0"/>
                </a:lnTo>
                <a:arcTo hR="211546" wR="211541" stAng="16200000" swAng="5400000"/>
                <a:lnTo>
                  <a:pt x="2530312" y="1311064"/>
                </a:lnTo>
                <a:arcTo hR="211546" wR="211541" stAng="0" swAng="5400000"/>
                <a:lnTo>
                  <a:pt x="0" y="1522611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00052" y="3921720"/>
            <a:ext cx="2172935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Time Wasted on Log Checks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3500052" y="4547592"/>
            <a:ext cx="2172935" cy="520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strike="sngStrike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20 minutes/day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→ </a:t>
            </a:r>
            <a:pPr algn="l"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00D9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&lt;1 minute/day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308567" y="1723529"/>
            <a:ext cx="5155277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Risk Register &amp; Mitigations</a:t>
            </a:r>
            <a:endParaRPr lang="en-US" sz="14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8567" y="2133898"/>
            <a:ext cx="2499655" cy="400437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572979" y="2322116"/>
            <a:ext cx="204703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Risk 1 — Low-Light IR Flare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6572979" y="2947988"/>
            <a:ext cx="2047030" cy="3002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Scenario:</a:t>
            </a:r>
            <a:pPr algn="l" indent="0" marL="0">
              <a:lnSpc>
                <a:spcPct val="12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Night-time infrared illumination causes face recognition model to hallucinate or fail biometric matching.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Mitigation: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Fallback to temporal line-crossing tracking at night — dwell-time logic remains active even without face matching.</a:t>
            </a:r>
            <a:endParaRPr lang="en-US" sz="13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64190" y="2133898"/>
            <a:ext cx="2499655" cy="400437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228601" y="2322116"/>
            <a:ext cx="204703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Risk 2 — Edge Hardware Overhead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9228601" y="2947988"/>
            <a:ext cx="2047030" cy="3002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Scenario:</a:t>
            </a:r>
            <a:pPr algn="l" indent="0" marL="0">
              <a:lnSpc>
                <a:spcPct val="12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Running YOLOv8 + ByteTrack + InsightFace simultaneously exceeds edge device compute budget.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Mitigation: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Quantize YOLOv8 to INT8 precision &amp; cap frame rate to 5 FPS — reduces inference load by ~60% with minimal accuracy loss.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564257"/>
            <a:ext cx="1118763" cy="239713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853" y="621010"/>
            <a:ext cx="126203" cy="1262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8157" y="611584"/>
            <a:ext cx="1349738" cy="145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CONCLUSION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734200" y="858143"/>
            <a:ext cx="10723294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Summary &amp; AI Tool Usage Declaration</a:t>
            </a:r>
            <a:endParaRPr lang="en-US" sz="2750" dirty="0"/>
          </a:p>
        </p:txBody>
      </p:sp>
      <p:sp>
        <p:nvSpPr>
          <p:cNvPr id="6" name="Shape 3"/>
          <p:cNvSpPr/>
          <p:nvPr/>
        </p:nvSpPr>
        <p:spPr>
          <a:xfrm>
            <a:off x="620697" y="1499592"/>
            <a:ext cx="5951587" cy="3835995"/>
          </a:xfrm>
          <a:prstGeom prst="roundRect">
            <a:avLst>
              <a:gd name="adj" fmla="val 9870"/>
            </a:avLst>
          </a:prstGeom>
          <a:solidFill>
            <a:srgbClr val="1E3A5F">
              <a:alpha val="7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78451" y="1635125"/>
            <a:ext cx="563607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Key Learnings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68877" y="2060873"/>
            <a:ext cx="514565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Design Thinking Solves Root Causes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68877" y="2415480"/>
            <a:ext cx="5145653" cy="469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Structured empathy and field observation revealed that notification fatigue — not hardware — was the true failure mode requiring intervention.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68877" y="3210024"/>
            <a:ext cx="514565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Edge AI is Economically Viable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268877" y="3564632"/>
            <a:ext cx="5145653" cy="469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YOLOv8-Nano delivers semantic object understanding at near-zero recurring cost, eliminating false motion alerts without cloud dependency.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268877" y="4359176"/>
            <a:ext cx="514565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Triple-Gate Logic is the Innovation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268877" y="4713784"/>
            <a:ext cx="5145653" cy="469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Human + Dwell Time + Unknown Face — three simultaneous conditions required to fire an alert, making false positives structurally improbable.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49891" y="1635125"/>
            <a:ext cx="461385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AI Tool Usage Declaration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849891" y="2006699"/>
            <a:ext cx="4613854" cy="1905893"/>
          </a:xfrm>
          <a:prstGeom prst="roundRect">
            <a:avLst>
              <a:gd name="adj" fmla="val 12416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49891" y="2426097"/>
            <a:ext cx="4613854" cy="9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6849891" y="2842320"/>
            <a:ext cx="4613854" cy="9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6849891" y="3493195"/>
            <a:ext cx="4613854" cy="9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8696703" y="2006699"/>
            <a:ext cx="9860" cy="190589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6856241" y="2013049"/>
            <a:ext cx="1840462" cy="413048"/>
          </a:xfrm>
          <a:custGeom>
            <a:avLst/>
            <a:gdLst/>
            <a:ahLst/>
            <a:cxnLst/>
            <a:rect l="l" t="t" r="r" b="b"/>
            <a:pathLst>
              <a:path w="1840462" h="413048">
                <a:moveTo>
                  <a:pt x="197199" y="0"/>
                </a:moveTo>
                <a:lnTo>
                  <a:pt x="1840462" y="0"/>
                </a:lnTo>
                <a:lnTo>
                  <a:pt x="1840462" y="413048"/>
                </a:lnTo>
                <a:lnTo>
                  <a:pt x="0" y="413048"/>
                </a:lnTo>
                <a:lnTo>
                  <a:pt x="0" y="197204"/>
                </a:lnTo>
                <a:arcTo hR="197204" wR="197199" stAng="10800000" swAng="5400000"/>
                <a:close/>
              </a:path>
            </a:pathLst>
          </a:custGeom>
          <a:solidFill>
            <a:srgbClr val="00D9FF"/>
          </a:solidFill>
          <a:ln/>
        </p:spPr>
      </p:sp>
      <p:sp>
        <p:nvSpPr>
          <p:cNvPr id="21" name="Text 18"/>
          <p:cNvSpPr/>
          <p:nvPr/>
        </p:nvSpPr>
        <p:spPr>
          <a:xfrm>
            <a:off x="7013995" y="2100659"/>
            <a:ext cx="2131364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Tool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696703" y="2013049"/>
            <a:ext cx="2760693" cy="413048"/>
          </a:xfrm>
          <a:custGeom>
            <a:avLst/>
            <a:gdLst/>
            <a:ahLst/>
            <a:cxnLst/>
            <a:rect l="l" t="t" r="r" b="b"/>
            <a:pathLst>
              <a:path w="2760693" h="413048">
                <a:moveTo>
                  <a:pt x="0" y="0"/>
                </a:moveTo>
                <a:lnTo>
                  <a:pt x="2563493" y="0"/>
                </a:lnTo>
                <a:arcTo hR="197204" wR="197199" stAng="16200000" swAng="5400000"/>
                <a:lnTo>
                  <a:pt x="2760693" y="413048"/>
                </a:lnTo>
                <a:lnTo>
                  <a:pt x="0" y="413048"/>
                </a:lnTo>
                <a:lnTo>
                  <a:pt x="0" y="0"/>
                </a:lnTo>
                <a:close/>
              </a:path>
            </a:pathLst>
          </a:custGeom>
          <a:solidFill>
            <a:srgbClr val="00D9FF"/>
          </a:solidFill>
          <a:ln/>
        </p:spPr>
      </p:sp>
      <p:sp>
        <p:nvSpPr>
          <p:cNvPr id="23" name="Text 20"/>
          <p:cNvSpPr/>
          <p:nvPr/>
        </p:nvSpPr>
        <p:spPr>
          <a:xfrm>
            <a:off x="8857632" y="2100659"/>
            <a:ext cx="3051595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Purpose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013995" y="2516882"/>
            <a:ext cx="2131364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ChatGPT / Gemini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857632" y="2516882"/>
            <a:ext cx="3051595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Root cause &amp; 6M classification logic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013995" y="2933105"/>
            <a:ext cx="2131364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Gamma AI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857632" y="2933105"/>
            <a:ext cx="2442010" cy="469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Presentation deck structure &amp; visual layout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013995" y="3583980"/>
            <a:ext cx="2131364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Ultralytics YOLOv8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857632" y="3583980"/>
            <a:ext cx="3051595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Computer vision pipeline design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34200" y="5488087"/>
            <a:ext cx="10723294" cy="805557"/>
          </a:xfrm>
          <a:prstGeom prst="roundRect">
            <a:avLst>
              <a:gd name="adj" fmla="val 29376"/>
            </a:avLst>
          </a:prstGeom>
          <a:solidFill>
            <a:srgbClr val="183A13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954" y="5683647"/>
            <a:ext cx="197143" cy="15775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246851" y="5663009"/>
            <a:ext cx="10052890" cy="469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Smart Vision Sentry transforms a broken pixel-threshold alarm into a semantically-aware, cost-free, resident-safe edge AI security layer — </a:t>
            </a:r>
            <a:pPr algn="l"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00D9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99+ daily false alarms reduced to &lt;4 verified alerts.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2026-08-24T08:21:16Z</dcterms:created>
  <dcterms:modified xsi:type="dcterms:W3CDTF">2026-08-24T08:21:16Z</dcterms:modified>
</cp:coreProperties>
</file>